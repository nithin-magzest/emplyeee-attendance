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1E5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0"/>
            <a:ext cx="12191695" cy="38100"/>
          </a:xfrm>
          <a:prstGeom prst="rect">
            <a:avLst/>
          </a:prstGeom>
          <a:solidFill>
            <a:srgbClr val="E8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EA0DA"/>
                </a:solidFill>
                <a:latin typeface="Segoe UI"/>
              </a:rPr>
              <a:t>HRMS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5146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Segoe UI"/>
              </a:rPr>
              <a:t>Employee Attendance &amp; Human Resource
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8862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9D8EE"/>
                </a:solidFill>
                <a:latin typeface="Segoe UI"/>
              </a:rPr>
              <a:t>Feature Overview &amp; System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4476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Segoe UI"/>
              </a:rPr>
              <a:t>Flask  •  PostgreSQL  •  Face Recognition  •  WebAuthn  •  React Native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A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128016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A0DA"/>
                </a:solidFill>
                <a:latin typeface="Segoe UI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B1F3A"/>
                </a:solidFill>
                <a:latin typeface="Segoe UI"/>
              </a:rPr>
              <a:t>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005840" cy="38100"/>
          </a:xfrm>
          <a:prstGeom prst="rect">
            <a:avLst/>
          </a:prstGeom>
          <a:solidFill>
            <a:srgbClr val="E8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070"/>
                </a:solidFill>
                <a:latin typeface="Segoe UI"/>
              </a:rPr>
              <a:t>HRMS / Employee Attendance Portal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800" b="1">
                <a:solidFill>
                  <a:srgbClr val="1A1A1A"/>
                </a:solidFill>
                <a:latin typeface="Segoe UI"/>
              </a:rPr>
              <a:t>▸ What is the platform — purpose &amp; scope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800" b="1">
                <a:solidFill>
                  <a:srgbClr val="1A1A1A"/>
                </a:solidFill>
                <a:latin typeface="Segoe UI"/>
              </a:rPr>
              <a:t>▸ Technology stack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800" b="1">
                <a:solidFill>
                  <a:srgbClr val="1A1A1A"/>
                </a:solidFill>
                <a:latin typeface="Segoe UI"/>
              </a:rPr>
              <a:t>▸ System architecture &amp; project structure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800" b="1">
                <a:solidFill>
                  <a:srgbClr val="1A1A1A"/>
                </a:solidFill>
                <a:latin typeface="Segoe UI"/>
              </a:rPr>
              <a:t>▸ Core HR &amp; operations modules (10)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800" b="1">
                <a:solidFill>
                  <a:srgbClr val="1A1A1A"/>
                </a:solidFill>
                <a:latin typeface="Segoe UI"/>
              </a:rPr>
              <a:t>▸ Employee self-service portal &amp; mobile app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800" b="1">
                <a:solidFill>
                  <a:srgbClr val="1A1A1A"/>
                </a:solidFill>
                <a:latin typeface="Segoe UI"/>
              </a:rPr>
              <a:t>▸ Multi-layer native security firewall (6 layers)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800" b="1">
                <a:solidFill>
                  <a:srgbClr val="1A1A1A"/>
                </a:solidFill>
                <a:latin typeface="Segoe UI"/>
              </a:rPr>
              <a:t>▸ Caching &amp; performance (Redis)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800" b="1">
                <a:solidFill>
                  <a:srgbClr val="1A1A1A"/>
                </a:solidFill>
                <a:latin typeface="Segoe UI"/>
              </a:rPr>
              <a:t>▸ Deployment, DevOps &amp; CI/CD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800" b="1">
                <a:solidFill>
                  <a:srgbClr val="1A1A1A"/>
                </a:solidFill>
                <a:latin typeface="Segoe UI"/>
              </a:rPr>
              <a:t>▸ Testing &amp; quality assurance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739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6070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A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128016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A0DA"/>
                </a:solidFill>
                <a:latin typeface="Segoe UI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B1F3A"/>
                </a:solidFill>
                <a:latin typeface="Segoe UI"/>
              </a:rPr>
              <a:t>What Is This Platform?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005840" cy="38100"/>
          </a:xfrm>
          <a:prstGeom prst="rect">
            <a:avLst/>
          </a:prstGeom>
          <a:solidFill>
            <a:srgbClr val="E8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070"/>
                </a:solidFill>
                <a:latin typeface="Segoe UI"/>
              </a:rPr>
              <a:t>HRMS / Employee Attendance Portal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1A1A1A"/>
                </a:solidFill>
                <a:latin typeface="Segoe UI"/>
              </a:rPr>
              <a:t>A full-featured, self-hosted employee management and attendance platform — covers the complete employee lifecycle from onboarding to payroll, with biometric attendance and enterprise-grade security built in natively.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743200"/>
            <a:ext cx="2606040" cy="329184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743200"/>
            <a:ext cx="2606040" cy="73152"/>
          </a:xfrm>
          <a:prstGeom prst="rect">
            <a:avLst/>
          </a:prstGeom>
          <a:solidFill>
            <a:srgbClr val="2EA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063240"/>
            <a:ext cx="2240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B1F3A"/>
                </a:solidFill>
                <a:latin typeface="Segoe UI"/>
              </a:rPr>
              <a:t>Self-Hosted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794760"/>
            <a:ext cx="22402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070"/>
                </a:solidFill>
                <a:latin typeface="Segoe UI"/>
              </a:rPr>
              <a:t>No 3rd-party SaaS lock-in — runs on your own infra, full data ownership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2743200"/>
            <a:ext cx="2606040" cy="329184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83280" y="2743200"/>
            <a:ext cx="2606040" cy="73152"/>
          </a:xfrm>
          <a:prstGeom prst="rect">
            <a:avLst/>
          </a:prstGeom>
          <a:solidFill>
            <a:srgbClr val="2EA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3063240"/>
            <a:ext cx="2240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B1F3A"/>
                </a:solidFill>
                <a:latin typeface="Segoe UI"/>
              </a:rPr>
              <a:t>Biometric Attendance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3794760"/>
            <a:ext cx="22402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070"/>
                </a:solidFill>
                <a:latin typeface="Segoe UI"/>
              </a:rPr>
              <a:t>Face recognition, QR scan, GPS geo-fence, and WebAuthn fingerprint/passkey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2743200"/>
            <a:ext cx="2606040" cy="329184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2743200"/>
            <a:ext cx="2606040" cy="73152"/>
          </a:xfrm>
          <a:prstGeom prst="rect">
            <a:avLst/>
          </a:prstGeom>
          <a:solidFill>
            <a:srgbClr val="2EA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3063240"/>
            <a:ext cx="2240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B1F3A"/>
                </a:solidFill>
                <a:latin typeface="Segoe UI"/>
              </a:rPr>
              <a:t>Multi-Tenant Ready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3794760"/>
            <a:ext cx="22402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070"/>
                </a:solidFill>
                <a:latin typeface="Segoe UI"/>
              </a:rPr>
              <a:t>Subdomain-based org provisioning — one deployment, many companies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69680" y="2743200"/>
            <a:ext cx="2606040" cy="329184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869680" y="2743200"/>
            <a:ext cx="2606040" cy="73152"/>
          </a:xfrm>
          <a:prstGeom prst="rect">
            <a:avLst/>
          </a:prstGeom>
          <a:solidFill>
            <a:srgbClr val="2EA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0" y="3063240"/>
            <a:ext cx="2240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B1F3A"/>
                </a:solidFill>
                <a:latin typeface="Segoe UI"/>
              </a:rPr>
              <a:t>Mobile + Web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3794760"/>
            <a:ext cx="22402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070"/>
                </a:solidFill>
                <a:latin typeface="Segoe UI"/>
              </a:rPr>
              <a:t>React Native app for check-in/out alongside the full web admin/employee portal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94415" y="64739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6070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A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128016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A0DA"/>
                </a:solidFill>
                <a:latin typeface="Segoe U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B1F3A"/>
                </a:solidFill>
                <a:latin typeface="Segoe UI"/>
              </a:rPr>
              <a:t>Technology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005840" cy="38100"/>
          </a:xfrm>
          <a:prstGeom prst="rect">
            <a:avLst/>
          </a:prstGeom>
          <a:solidFill>
            <a:srgbClr val="E8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070"/>
                </a:solidFill>
                <a:latin typeface="Segoe UI"/>
              </a:rPr>
              <a:t>HRMS / Employee Attendance Portal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00200"/>
            <a:ext cx="11201400" cy="56692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73352"/>
            <a:ext cx="21031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0B1F3A"/>
                </a:solidFill>
                <a:latin typeface="Segoe UI"/>
              </a:rPr>
              <a:t>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1673352"/>
            <a:ext cx="8595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Segoe UI"/>
              </a:rPr>
              <a:t>Python 3.11 · Flask 3 · Gunicorn · Blueprint architecture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167128"/>
            <a:ext cx="1120140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240280"/>
            <a:ext cx="21031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0B1F3A"/>
                </a:solidFill>
                <a:latin typeface="Segoe UI"/>
              </a:rPr>
              <a:t>Database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240280"/>
            <a:ext cx="8595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Segoe UI"/>
              </a:rPr>
              <a:t>PostgreSQL 16 · Redis 7 (optional shared cache/rate-limit backend)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734056"/>
            <a:ext cx="11201400" cy="56692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807208"/>
            <a:ext cx="21031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0B1F3A"/>
                </a:solidFill>
                <a:latin typeface="Segoe UI"/>
              </a:rPr>
              <a:t>Authentication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2807208"/>
            <a:ext cx="8595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Segoe UI"/>
              </a:rPr>
              <a:t>bcrypt · WebAuthn (passkeys/fingerprint) · TOTP MFA · Bearer token API auth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300984"/>
            <a:ext cx="1120140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374136"/>
            <a:ext cx="21031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0B1F3A"/>
                </a:solidFill>
                <a:latin typeface="Segoe UI"/>
              </a:rPr>
              <a:t>Security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3374136"/>
            <a:ext cx="8595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Segoe UI"/>
              </a:rPr>
              <a:t>Custom CSRF · Dynamic CSP (sha256 nonces) · HSTS · Fernet PII encryption · Native WAF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867912"/>
            <a:ext cx="11201400" cy="56692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941064"/>
            <a:ext cx="21031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0B1F3A"/>
                </a:solidFill>
                <a:latin typeface="Segoe UI"/>
              </a:rPr>
              <a:t>Biometrics / 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3941064"/>
            <a:ext cx="8595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Segoe UI"/>
              </a:rPr>
              <a:t>face_recognition (dlib) · GPS geo-fencing · Anthropic API (employee chat assistant)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434840"/>
            <a:ext cx="1120140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507992"/>
            <a:ext cx="21031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0B1F3A"/>
                </a:solidFill>
                <a:latin typeface="Segoe UI"/>
              </a:rPr>
              <a:t>Mobile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4507992"/>
            <a:ext cx="8595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Segoe UI"/>
              </a:rPr>
              <a:t>React Native (Expo) — employee check-in/out app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001768"/>
            <a:ext cx="11201400" cy="56692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074920"/>
            <a:ext cx="21031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0B1F3A"/>
                </a:solidFill>
                <a:latin typeface="Segoe UI"/>
              </a:rPr>
              <a:t>DevOps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5074920"/>
            <a:ext cx="8595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Segoe UI"/>
              </a:rPr>
              <a:t>Podman/Docker Compose · nginx reverse proxy · Let's Encrypt · GitHub Actions CI/CD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5568696"/>
            <a:ext cx="1120140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5641848"/>
            <a:ext cx="21031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0B1F3A"/>
                </a:solidFill>
                <a:latin typeface="Segoe UI"/>
              </a:rPr>
              <a:t>Cloud (production)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6080" y="5641848"/>
            <a:ext cx="8595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Segoe UI"/>
              </a:rPr>
              <a:t>AWS EC2 + RDS + Terraform — see AWS_DEPLOYMENT.md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94415" y="64739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6070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A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128016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A0DA"/>
                </a:solidFill>
                <a:latin typeface="Segoe U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B1F3A"/>
                </a:solidFill>
                <a:latin typeface="Segoe UI"/>
              </a:rPr>
              <a:t>System Structure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005840" cy="38100"/>
          </a:xfrm>
          <a:prstGeom prst="rect">
            <a:avLst/>
          </a:prstGeom>
          <a:solidFill>
            <a:srgbClr val="E8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070"/>
                </a:solidFill>
                <a:latin typeface="Segoe UI"/>
              </a:rPr>
              <a:t>HRMS / Employee Attendance Portal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2724912" cy="5029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719072"/>
            <a:ext cx="2724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Segoe UI"/>
              </a:rPr>
              <a:t>Client Layer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148840"/>
            <a:ext cx="2724912" cy="242316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31720"/>
            <a:ext cx="2450592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 b="1">
                <a:solidFill>
                  <a:srgbClr val="1A1A1A"/>
                </a:solidFill>
                <a:latin typeface="Segoe UI"/>
              </a:rPr>
              <a:t>▸ Web browser (admin + employee portal)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 b="1">
                <a:solidFill>
                  <a:srgbClr val="1A1A1A"/>
                </a:solidFill>
                <a:latin typeface="Segoe UI"/>
              </a:rPr>
              <a:t>▸ React Native mobile app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 b="1">
                <a:solidFill>
                  <a:srgbClr val="1A1A1A"/>
                </a:solidFill>
                <a:latin typeface="Segoe UI"/>
              </a:rPr>
              <a:t>▸ Kiosk face/QR check-in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27832" y="2926080"/>
            <a:ext cx="109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EA0DA"/>
                </a:solidFill>
                <a:latin typeface="Segoe U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1645920"/>
            <a:ext cx="2724912" cy="5029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7560" y="1719072"/>
            <a:ext cx="2724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Segoe UI"/>
              </a:rPr>
              <a:t>Edge / Proxy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37560" y="2148840"/>
            <a:ext cx="2724912" cy="242316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2331720"/>
            <a:ext cx="2450592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 b="1">
                <a:solidFill>
                  <a:srgbClr val="1A1A1A"/>
                </a:solidFill>
                <a:latin typeface="Segoe UI"/>
              </a:rPr>
              <a:t>▸ nginx reverse proxy — TLS termination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 b="1">
                <a:solidFill>
                  <a:srgbClr val="1A1A1A"/>
                </a:solidFill>
                <a:latin typeface="Segoe UI"/>
              </a:rPr>
              <a:t>▸ Rate/connection limiting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 b="1">
                <a:solidFill>
                  <a:srgbClr val="1A1A1A"/>
                </a:solidFill>
                <a:latin typeface="Segoe UI"/>
              </a:rPr>
              <a:t>▸ Static asset serving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62472" y="2926080"/>
            <a:ext cx="109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EA0DA"/>
                </a:solidFill>
                <a:latin typeface="Segoe U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1645920"/>
            <a:ext cx="2724912" cy="5029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2200" y="1719072"/>
            <a:ext cx="2724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Segoe UI"/>
              </a:rPr>
              <a:t>Application Layer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2148840"/>
            <a:ext cx="2724912" cy="242316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2331720"/>
            <a:ext cx="2450592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 b="1">
                <a:solidFill>
                  <a:srgbClr val="1A1A1A"/>
                </a:solidFill>
                <a:latin typeface="Segoe UI"/>
              </a:rPr>
              <a:t>▸ Flask app.py + 15 blueprints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 b="1">
                <a:solidFill>
                  <a:srgbClr val="1A1A1A"/>
                </a:solidFill>
                <a:latin typeface="Segoe UI"/>
              </a:rPr>
              <a:t>▸ extensions.py — shared state, limiter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 b="1">
                <a:solidFill>
                  <a:srgbClr val="1A1A1A"/>
                </a:solidFill>
                <a:latin typeface="Segoe UI"/>
              </a:rPr>
              <a:t>▸ utils/ — auth, DLP, WAF, helpers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7112" y="2926080"/>
            <a:ext cx="109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EA0DA"/>
                </a:solidFill>
                <a:latin typeface="Segoe UI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06840" y="1645920"/>
            <a:ext cx="2724912" cy="5029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06840" y="1719072"/>
            <a:ext cx="2724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Segoe UI"/>
              </a:rPr>
              <a:t>Data Layer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06840" y="2148840"/>
            <a:ext cx="2724912" cy="242316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0" y="2331720"/>
            <a:ext cx="2450592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 b="1">
                <a:solidFill>
                  <a:srgbClr val="1A1A1A"/>
                </a:solidFill>
                <a:latin typeface="Segoe UI"/>
              </a:rPr>
              <a:t>▸ PostgreSQL 16 — system of record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 b="1">
                <a:solidFill>
                  <a:srgbClr val="1A1A1A"/>
                </a:solidFill>
                <a:latin typeface="Segoe UI"/>
              </a:rPr>
              <a:t>▸ Redis — optional shared cache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 b="1">
                <a:solidFill>
                  <a:srgbClr val="1A1A1A"/>
                </a:solidFill>
                <a:latin typeface="Segoe UI"/>
              </a:rPr>
              <a:t>▸ Encrypted PII at rest (Fernet)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800600"/>
            <a:ext cx="11155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56070"/>
                </a:solidFill>
                <a:latin typeface="Segoe UI"/>
              </a:rPr>
              <a:t>Blueprint migration in progress: routes are being moved incrementally from app.py into blueprints/ (15 registered today — health, notifications, payroll, leave, admin_views, auth, employees, attendance, tickets, performance, documents, org, onboarding, employee_portal, core). Multi-tenancy is subdomain-based, with each organisation provisioned its own PostgreSQL schema.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94415" y="64739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6070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A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128016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A0DA"/>
                </a:solidFill>
                <a:latin typeface="Segoe UI"/>
              </a:rPr>
              <a:t>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B1F3A"/>
                </a:solidFill>
                <a:latin typeface="Segoe UI"/>
              </a:rPr>
              <a:t>Core Modules — At a Glance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005840" cy="38100"/>
          </a:xfrm>
          <a:prstGeom prst="rect">
            <a:avLst/>
          </a:prstGeom>
          <a:solidFill>
            <a:srgbClr val="E8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070"/>
                </a:solidFill>
                <a:latin typeface="Segoe UI"/>
              </a:rPr>
              <a:t>HRMS / Employee Attendance Portal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00200"/>
            <a:ext cx="3566160" cy="96012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600200"/>
            <a:ext cx="73152" cy="960120"/>
          </a:xfrm>
          <a:prstGeom prst="rect">
            <a:avLst/>
          </a:prstGeom>
          <a:solidFill>
            <a:srgbClr val="E8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67335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B1F3A"/>
                </a:solidFill>
                <a:latin typeface="Segoe UI"/>
              </a:rPr>
              <a:t>Attendance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1984248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556070"/>
                </a:solidFill>
                <a:latin typeface="Segoe UI"/>
              </a:rPr>
              <a:t>Face ID, QR, GPS geo-fence, WebAuthn, manual check-in/out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1600200"/>
            <a:ext cx="3566160" cy="96012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06240" y="1600200"/>
            <a:ext cx="73152" cy="960120"/>
          </a:xfrm>
          <a:prstGeom prst="rect">
            <a:avLst/>
          </a:prstGeom>
          <a:solidFill>
            <a:srgbClr val="E8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07408" y="167335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B1F3A"/>
                </a:solidFill>
                <a:latin typeface="Segoe UI"/>
              </a:rPr>
              <a:t>Employees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7408" y="1984248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556070"/>
                </a:solidFill>
                <a:latin typeface="Segoe UI"/>
              </a:rPr>
              <a:t>Full CRUD, photo capture, QR/ID cards, dept &amp; role mgmt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09560" y="1600200"/>
            <a:ext cx="3566160" cy="96012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09560" y="1600200"/>
            <a:ext cx="73152" cy="960120"/>
          </a:xfrm>
          <a:prstGeom prst="rect">
            <a:avLst/>
          </a:prstGeom>
          <a:solidFill>
            <a:srgbClr val="E8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10728" y="167335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B1F3A"/>
                </a:solidFill>
                <a:latin typeface="Segoe UI"/>
              </a:rPr>
              <a:t>Payroll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10728" y="1984248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556070"/>
                </a:solidFill>
                <a:latin typeface="Segoe UI"/>
              </a:rPr>
              <a:t>Salary rules, monthly reports, payslip email, Excel export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2670048"/>
            <a:ext cx="3566160" cy="96012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2670048"/>
            <a:ext cx="73152" cy="960120"/>
          </a:xfrm>
          <a:prstGeom prst="rect">
            <a:avLst/>
          </a:prstGeom>
          <a:solidFill>
            <a:srgbClr val="E8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" y="27432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B1F3A"/>
                </a:solidFill>
                <a:latin typeface="Segoe UI"/>
              </a:rPr>
              <a:t>Leave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" y="3054096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556070"/>
                </a:solidFill>
                <a:latin typeface="Segoe UI"/>
              </a:rPr>
              <a:t>Requests, approval workflow, leave types, holiday calendar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06240" y="2670048"/>
            <a:ext cx="3566160" cy="96012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06240" y="2670048"/>
            <a:ext cx="73152" cy="960120"/>
          </a:xfrm>
          <a:prstGeom prst="rect">
            <a:avLst/>
          </a:prstGeom>
          <a:solidFill>
            <a:srgbClr val="E8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07408" y="27432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B1F3A"/>
                </a:solidFill>
                <a:latin typeface="Segoe UI"/>
              </a:rPr>
              <a:t>Performance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07408" y="3054096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556070"/>
                </a:solidFill>
                <a:latin typeface="Segoe UI"/>
              </a:rPr>
              <a:t>KPIs, reviews, hike/bonus workflow, PDF export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09560" y="2670048"/>
            <a:ext cx="3566160" cy="96012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9560" y="2670048"/>
            <a:ext cx="73152" cy="960120"/>
          </a:xfrm>
          <a:prstGeom prst="rect">
            <a:avLst/>
          </a:prstGeom>
          <a:solidFill>
            <a:srgbClr val="E8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10728" y="27432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B1F3A"/>
                </a:solidFill>
                <a:latin typeface="Segoe UI"/>
              </a:rPr>
              <a:t>Onboarding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10728" y="3054096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556070"/>
                </a:solidFill>
                <a:latin typeface="Segoe UI"/>
              </a:rPr>
              <a:t>Template-based task assignment for new hires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739896"/>
            <a:ext cx="3566160" cy="96012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2920" y="3739896"/>
            <a:ext cx="73152" cy="960120"/>
          </a:xfrm>
          <a:prstGeom prst="rect">
            <a:avLst/>
          </a:prstGeom>
          <a:solidFill>
            <a:srgbClr val="E8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4088" y="381304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B1F3A"/>
                </a:solidFill>
                <a:latin typeface="Segoe UI"/>
              </a:rPr>
              <a:t>Documents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" y="4123944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556070"/>
                </a:solidFill>
                <a:latin typeface="Segoe UI"/>
              </a:rPr>
              <a:t>Employee document upload &amp; management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06240" y="3739896"/>
            <a:ext cx="3566160" cy="96012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206240" y="3739896"/>
            <a:ext cx="73152" cy="960120"/>
          </a:xfrm>
          <a:prstGeom prst="rect">
            <a:avLst/>
          </a:prstGeom>
          <a:solidFill>
            <a:srgbClr val="E8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07408" y="381304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B1F3A"/>
                </a:solidFill>
                <a:latin typeface="Segoe UI"/>
              </a:rPr>
              <a:t>Tickets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07408" y="4123944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556070"/>
                </a:solidFill>
                <a:latin typeface="Segoe UI"/>
              </a:rPr>
              <a:t>Internal employee support ticket system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09560" y="3739896"/>
            <a:ext cx="3566160" cy="96012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09560" y="3739896"/>
            <a:ext cx="73152" cy="960120"/>
          </a:xfrm>
          <a:prstGeom prst="rect">
            <a:avLst/>
          </a:prstGeom>
          <a:solidFill>
            <a:srgbClr val="E8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10728" y="381304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B1F3A"/>
                </a:solidFill>
                <a:latin typeface="Segoe UI"/>
              </a:rPr>
              <a:t>Notifications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10728" y="4123944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556070"/>
                </a:solidFill>
                <a:latin typeface="Segoe UI"/>
              </a:rPr>
              <a:t>In-app feed for admin &amp; employee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4809744"/>
            <a:ext cx="3566160" cy="96012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" y="4809744"/>
            <a:ext cx="73152" cy="960120"/>
          </a:xfrm>
          <a:prstGeom prst="rect">
            <a:avLst/>
          </a:prstGeom>
          <a:solidFill>
            <a:srgbClr val="E8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04088" y="488289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B1F3A"/>
                </a:solidFill>
                <a:latin typeface="Segoe UI"/>
              </a:rPr>
              <a:t>Org / Multi-tenant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4088" y="5193792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556070"/>
                </a:solidFill>
                <a:latin typeface="Segoe UI"/>
              </a:rPr>
              <a:t>Subdomain-based org provisioning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94415" y="64739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6070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A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128016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A0DA"/>
                </a:solidFill>
                <a:latin typeface="Segoe UI"/>
              </a:rPr>
              <a:t>FEATURE DEEP-DIVE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B1F3A"/>
                </a:solidFill>
                <a:latin typeface="Segoe UI"/>
              </a:rPr>
              <a:t>Attendance Module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005840" cy="38100"/>
          </a:xfrm>
          <a:prstGeom prst="rect">
            <a:avLst/>
          </a:prstGeom>
          <a:solidFill>
            <a:srgbClr val="E8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070"/>
                </a:solidFill>
                <a:latin typeface="Segoe UI"/>
              </a:rPr>
              <a:t>HRMS / Employee Attendance Portal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1A1A1A"/>
                </a:solidFill>
                <a:latin typeface="Segoe UI"/>
              </a:rPr>
              <a:t>▸ Multiple check-in methods:</a:t>
            </a:r>
          </a:p>
          <a:p>
            <a:pPr lvl="1">
              <a:lnSpc>
                <a:spcPct val="105000"/>
              </a:lnSpc>
              <a:spcAft>
                <a:spcPts val="1000"/>
              </a:spcAft>
            </a:pPr>
            <a:r>
              <a:rPr sz="1300" b="0">
                <a:solidFill>
                  <a:srgbClr val="556070"/>
                </a:solidFill>
                <a:latin typeface="Segoe UI"/>
              </a:rPr>
              <a:t>– Face recognition (dlib-based)</a:t>
            </a:r>
          </a:p>
          <a:p>
            <a:pPr lvl="1">
              <a:lnSpc>
                <a:spcPct val="105000"/>
              </a:lnSpc>
              <a:spcAft>
                <a:spcPts val="1000"/>
              </a:spcAft>
            </a:pPr>
            <a:r>
              <a:rPr sz="1300" b="0">
                <a:solidFill>
                  <a:srgbClr val="556070"/>
                </a:solidFill>
                <a:latin typeface="Segoe UI"/>
              </a:rPr>
              <a:t>– QR code scan</a:t>
            </a:r>
          </a:p>
          <a:p>
            <a:pPr lvl="1">
              <a:lnSpc>
                <a:spcPct val="105000"/>
              </a:lnSpc>
              <a:spcAft>
                <a:spcPts val="1000"/>
              </a:spcAft>
            </a:pPr>
            <a:r>
              <a:rPr sz="1300" b="0">
                <a:solidFill>
                  <a:srgbClr val="556070"/>
                </a:solidFill>
                <a:latin typeface="Segoe UI"/>
              </a:rPr>
              <a:t>– GPS geo-fence (office radius)</a:t>
            </a:r>
          </a:p>
          <a:p>
            <a:pPr lvl="1">
              <a:lnSpc>
                <a:spcPct val="105000"/>
              </a:lnSpc>
              <a:spcAft>
                <a:spcPts val="1000"/>
              </a:spcAft>
            </a:pPr>
            <a:r>
              <a:rPr sz="1300" b="0">
                <a:solidFill>
                  <a:srgbClr val="556070"/>
                </a:solidFill>
                <a:latin typeface="Segoe UI"/>
              </a:rPr>
              <a:t>– WebAuthn fingerprint / passkey</a:t>
            </a:r>
          </a:p>
          <a:p>
            <a:pPr lvl="1">
              <a:lnSpc>
                <a:spcPct val="105000"/>
              </a:lnSpc>
              <a:spcAft>
                <a:spcPts val="1000"/>
              </a:spcAft>
            </a:pPr>
            <a:r>
              <a:rPr sz="1300" b="0">
                <a:solidFill>
                  <a:srgbClr val="556070"/>
                </a:solidFill>
                <a:latin typeface="Segoe UI"/>
              </a:rPr>
              <a:t>– Manual admin check-in/out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1A1A1A"/>
                </a:solidFill>
                <a:latin typeface="Segoe UI"/>
              </a:rPr>
              <a:t>▸ Work-from-home mode with location capture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1A1A1A"/>
                </a:solidFill>
                <a:latin typeface="Segoe UI"/>
              </a:rPr>
              <a:t>▸ Break tracking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>
                <a:solidFill>
                  <a:srgbClr val="1A1A1A"/>
                </a:solidFill>
                <a:latin typeface="Segoe UI"/>
              </a:rPr>
              <a:t>▸ Shift assignment &amp; scheduling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>
                <a:solidFill>
                  <a:srgbClr val="1A1A1A"/>
                </a:solidFill>
                <a:latin typeface="Segoe UI"/>
              </a:rPr>
              <a:t>▸ Overtime &amp; comp-off tracking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>
                <a:solidFill>
                  <a:srgbClr val="1A1A1A"/>
                </a:solidFill>
                <a:latin typeface="Segoe UI"/>
              </a:rPr>
              <a:t>▸ Attendance regularization requests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>
                <a:solidFill>
                  <a:srgbClr val="1A1A1A"/>
                </a:solidFill>
                <a:latin typeface="Segoe UI"/>
              </a:rPr>
              <a:t>▸ Monthly attendance report export (rate-limited)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>
                <a:solidFill>
                  <a:srgbClr val="1A1A1A"/>
                </a:solidFill>
                <a:latin typeface="Segoe UI"/>
              </a:rPr>
              <a:t>▸ Mobile app biometric attestation flow (nonce-based, Bearer-token bound)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>
                <a:solidFill>
                  <a:srgbClr val="1A1A1A"/>
                </a:solidFill>
                <a:latin typeface="Segoe UI"/>
              </a:rPr>
              <a:t>▸ Sync endpoint for offline mobile punches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739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6070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A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128016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A0DA"/>
                </a:solidFill>
                <a:latin typeface="Segoe UI"/>
              </a:rPr>
              <a:t>FEATURE DEEP-DIVE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B1F3A"/>
                </a:solidFill>
                <a:latin typeface="Segoe UI"/>
              </a:rPr>
              <a:t>Employees &amp; Payroll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005840" cy="38100"/>
          </a:xfrm>
          <a:prstGeom prst="rect">
            <a:avLst/>
          </a:prstGeom>
          <a:solidFill>
            <a:srgbClr val="E8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070"/>
                </a:solidFill>
                <a:latin typeface="Segoe UI"/>
              </a:rPr>
              <a:t>HRMS / Employee Attendance Portal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56A0"/>
                </a:solidFill>
                <a:latin typeface="Segoe UI"/>
              </a:rPr>
              <a:t>Employees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65960"/>
            <a:ext cx="5303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50" b="1">
                <a:solidFill>
                  <a:srgbClr val="1A1A1A"/>
                </a:solidFill>
                <a:latin typeface="Segoe UI"/>
              </a:rPr>
              <a:t>▸ Full CRUD with photo capture at registration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50" b="1">
                <a:solidFill>
                  <a:srgbClr val="1A1A1A"/>
                </a:solidFill>
                <a:latin typeface="Segoe UI"/>
              </a:rPr>
              <a:t>▸ Auto-incrementing / alpha-prefixed employee IDs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50" b="1">
                <a:solidFill>
                  <a:srgbClr val="1A1A1A"/>
                </a:solidFill>
                <a:latin typeface="Segoe UI"/>
              </a:rPr>
              <a:t>▸ QR code &amp; ID card PDF generation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50" b="1">
                <a:solidFill>
                  <a:srgbClr val="1A1A1A"/>
                </a:solidFill>
                <a:latin typeface="Segoe UI"/>
              </a:rPr>
              <a:t>▸ Department &amp; role management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50" b="1">
                <a:solidFill>
                  <a:srgbClr val="1A1A1A"/>
                </a:solidFill>
                <a:latin typeface="Segoe UI"/>
              </a:rPr>
              <a:t>▸ Document upload (Aadhar, PAN, bank, education, experience)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50" b="1">
                <a:solidFill>
                  <a:srgbClr val="1A1A1A"/>
                </a:solidFill>
                <a:latin typeface="Segoe UI"/>
              </a:rPr>
              <a:t>▸ PII masked for non-finance roles (DLP layer)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5544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56A0"/>
                </a:solidFill>
                <a:latin typeface="Segoe UI"/>
              </a:rPr>
              <a:t>Payroll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965960"/>
            <a:ext cx="5303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50" b="1">
                <a:solidFill>
                  <a:srgbClr val="1A1A1A"/>
                </a:solidFill>
                <a:latin typeface="Segoe UI"/>
              </a:rPr>
              <a:t>▸ Configurable salary rules &amp; deduction config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50" b="1">
                <a:solidFill>
                  <a:srgbClr val="1A1A1A"/>
                </a:solidFill>
                <a:latin typeface="Segoe UI"/>
              </a:rPr>
              <a:t>▸ Monthly payroll runs with lock/finalize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50" b="1">
                <a:solidFill>
                  <a:srgbClr val="1A1A1A"/>
                </a:solidFill>
                <a:latin typeface="Segoe UI"/>
              </a:rPr>
              <a:t>▸ Payslip generation &amp; automated email delivery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50" b="1">
                <a:solidFill>
                  <a:srgbClr val="1A1A1A"/>
                </a:solidFill>
                <a:latin typeface="Segoe UI"/>
              </a:rPr>
              <a:t>▸ Salary &amp; monthly report Excel export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50" b="1">
                <a:solidFill>
                  <a:srgbClr val="1A1A1A"/>
                </a:solidFill>
                <a:latin typeface="Segoe UI"/>
              </a:rPr>
              <a:t>▸ Hike &amp; performance-bonus workflows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50" b="1">
                <a:solidFill>
                  <a:srgbClr val="1A1A1A"/>
                </a:solidFill>
                <a:latin typeface="Segoe UI"/>
              </a:rPr>
              <a:t>▸ Bank account / PAN / UAN masked unless admin-tier clearance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739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6070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A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128016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A0DA"/>
                </a:solidFill>
                <a:latin typeface="Segoe UI"/>
              </a:rPr>
              <a:t>FEATURE DEEP-DIVE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B1F3A"/>
                </a:solidFill>
                <a:latin typeface="Segoe UI"/>
              </a:rPr>
              <a:t>Leave · Performance · Onboarding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005840" cy="38100"/>
          </a:xfrm>
          <a:prstGeom prst="rect">
            <a:avLst/>
          </a:prstGeom>
          <a:solidFill>
            <a:srgbClr val="E8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070"/>
                </a:solidFill>
                <a:latin typeface="Segoe UI"/>
              </a:rPr>
              <a:t>HRMS / Employee Attendance Portal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544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1" i="0">
                <a:solidFill>
                  <a:srgbClr val="1E56A0"/>
                </a:solidFill>
                <a:latin typeface="Segoe UI"/>
              </a:rPr>
              <a:t>Leave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11680"/>
            <a:ext cx="3657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250" b="1">
                <a:solidFill>
                  <a:srgbClr val="1A1A1A"/>
                </a:solidFill>
                <a:latin typeface="Segoe UI"/>
              </a:rPr>
              <a:t>▸ Leave request submission &amp; approval workflow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250" b="1">
                <a:solidFill>
                  <a:srgbClr val="1A1A1A"/>
                </a:solidFill>
                <a:latin typeface="Segoe UI"/>
              </a:rPr>
              <a:t>▸ Multiple leave types &amp; configurable balances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250" b="1">
                <a:solidFill>
                  <a:srgbClr val="1A1A1A"/>
                </a:solidFill>
                <a:latin typeface="Segoe UI"/>
              </a:rPr>
              <a:t>▸ Company holiday calendar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250" b="1">
                <a:solidFill>
                  <a:srgbClr val="1A1A1A"/>
                </a:solidFill>
                <a:latin typeface="Segoe UI"/>
              </a:rPr>
              <a:t>▸ Shift-swap requests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250" b="1">
                <a:solidFill>
                  <a:srgbClr val="1A1A1A"/>
                </a:solidFill>
                <a:latin typeface="Segoe UI"/>
              </a:rPr>
              <a:t>▸ Resignation request workflow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5112" y="15544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1" i="0">
                <a:solidFill>
                  <a:srgbClr val="1E56A0"/>
                </a:solidFill>
                <a:latin typeface="Segoe UI"/>
              </a:rPr>
              <a:t>Performance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5112" y="2011680"/>
            <a:ext cx="3657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250" b="1">
                <a:solidFill>
                  <a:srgbClr val="1A1A1A"/>
                </a:solidFill>
                <a:latin typeface="Segoe UI"/>
              </a:rPr>
              <a:t>▸ KPI definitions &amp; weighted rating math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250" b="1">
                <a:solidFill>
                  <a:srgbClr val="1A1A1A"/>
                </a:solidFill>
                <a:latin typeface="Segoe UI"/>
              </a:rPr>
              <a:t>▸ Quarterly performance reviews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250" b="1">
                <a:solidFill>
                  <a:srgbClr val="1A1A1A"/>
                </a:solidFill>
                <a:latin typeface="Segoe UI"/>
              </a:rPr>
              <a:t>▸ Employee self-comment on own review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250" b="1">
                <a:solidFill>
                  <a:srgbClr val="1A1A1A"/>
                </a:solidFill>
                <a:latin typeface="Segoe UI"/>
              </a:rPr>
              <a:t>▸ Hike &amp; bonus award workflow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250" b="1">
                <a:solidFill>
                  <a:srgbClr val="1A1A1A"/>
                </a:solidFill>
                <a:latin typeface="Segoe UI"/>
              </a:rPr>
              <a:t>▸ Excel export/import for KPI roundtrip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250" b="1">
                <a:solidFill>
                  <a:srgbClr val="1A1A1A"/>
                </a:solidFill>
                <a:latin typeface="Segoe UI"/>
              </a:rPr>
              <a:t>▸ PDF export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47304" y="15544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1" i="0">
                <a:solidFill>
                  <a:srgbClr val="1E56A0"/>
                </a:solidFill>
                <a:latin typeface="Segoe UI"/>
              </a:rPr>
              <a:t>Onboarding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47304" y="2011680"/>
            <a:ext cx="3657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250" b="1">
                <a:solidFill>
                  <a:srgbClr val="1A1A1A"/>
                </a:solidFill>
                <a:latin typeface="Segoe UI"/>
              </a:rPr>
              <a:t>▸ Template-based onboarding checklists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250" b="1">
                <a:solidFill>
                  <a:srgbClr val="1A1A1A"/>
                </a:solidFill>
                <a:latin typeface="Segoe UI"/>
              </a:rPr>
              <a:t>▸ Task assignment per new hire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250" b="1">
                <a:solidFill>
                  <a:srgbClr val="1A1A1A"/>
                </a:solidFill>
                <a:latin typeface="Segoe UI"/>
              </a:rPr>
              <a:t>▸ Offer letter generation &amp; send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250" b="1">
                <a:solidFill>
                  <a:srgbClr val="1A1A1A"/>
                </a:solidFill>
                <a:latin typeface="Segoe UI"/>
              </a:rPr>
              <a:t>▸ CTC fallback from salary config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250" b="1">
                <a:solidFill>
                  <a:srgbClr val="1A1A1A"/>
                </a:solidFill>
                <a:latin typeface="Segoe UI"/>
              </a:rPr>
              <a:t>▸ CSV export of onboarding status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94415" y="64739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6070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A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128016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A0DA"/>
                </a:solidFill>
                <a:latin typeface="Segoe UI"/>
              </a:rPr>
              <a:t>FEATURE DEEP-DIVE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B1F3A"/>
                </a:solidFill>
                <a:latin typeface="Segoe UI"/>
              </a:rPr>
              <a:t>Self-Service, Mobile &amp; Collaboration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005840" cy="38100"/>
          </a:xfrm>
          <a:prstGeom prst="rect">
            <a:avLst/>
          </a:prstGeom>
          <a:solidFill>
            <a:srgbClr val="E8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070"/>
                </a:solidFill>
                <a:latin typeface="Segoe UI"/>
              </a:rPr>
              <a:t>HRMS / Employee Attendance Portal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544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1" i="0">
                <a:solidFill>
                  <a:srgbClr val="1E56A0"/>
                </a:solidFill>
                <a:latin typeface="Segoe UI"/>
              </a:rPr>
              <a:t>Employee Portal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11680"/>
            <a:ext cx="3657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250" b="1">
                <a:solidFill>
                  <a:srgbClr val="1A1A1A"/>
                </a:solidFill>
                <a:latin typeface="Segoe UI"/>
              </a:rPr>
              <a:t>▸ Self-service attendance history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250" b="1">
                <a:solidFill>
                  <a:srgbClr val="1A1A1A"/>
                </a:solidFill>
                <a:latin typeface="Segoe UI"/>
              </a:rPr>
              <a:t>▸ Payslip view &amp; download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250" b="1">
                <a:solidFill>
                  <a:srgbClr val="1A1A1A"/>
                </a:solidFill>
                <a:latin typeface="Segoe UI"/>
              </a:rPr>
              <a:t>▸ Leave application &amp; status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250" b="1">
                <a:solidFill>
                  <a:srgbClr val="1A1A1A"/>
                </a:solidFill>
                <a:latin typeface="Segoe UI"/>
              </a:rPr>
              <a:t>▸ Profile &amp; QR code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250" b="1">
                <a:solidFill>
                  <a:srgbClr val="1A1A1A"/>
                </a:solidFill>
                <a:latin typeface="Segoe UI"/>
              </a:rPr>
              <a:t>▸ AI chat assistant (optional, Anthropic API)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5112" y="15544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1" i="0">
                <a:solidFill>
                  <a:srgbClr val="1E56A0"/>
                </a:solidFill>
                <a:latin typeface="Segoe UI"/>
              </a:rPr>
              <a:t>Mobile 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5112" y="2011680"/>
            <a:ext cx="3657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250" b="1">
                <a:solidFill>
                  <a:srgbClr val="1A1A1A"/>
                </a:solidFill>
                <a:latin typeface="Segoe UI"/>
              </a:rPr>
              <a:t>▸ React Native (Expo)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250" b="1">
                <a:solidFill>
                  <a:srgbClr val="1A1A1A"/>
                </a:solidFill>
                <a:latin typeface="Segoe UI"/>
              </a:rPr>
              <a:t>▸ Employee check-in/out on the go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250" b="1">
                <a:solidFill>
                  <a:srgbClr val="1A1A1A"/>
                </a:solidFill>
                <a:latin typeface="Segoe UI"/>
              </a:rPr>
              <a:t>▸ Device-local biometric + nonce attestation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250" b="1">
                <a:solidFill>
                  <a:srgbClr val="1A1A1A"/>
                </a:solidFill>
                <a:latin typeface="Segoe UI"/>
              </a:rPr>
              <a:t>▸ Offline punch sync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47304" y="15544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1" i="0">
                <a:solidFill>
                  <a:srgbClr val="1E56A0"/>
                </a:solidFill>
                <a:latin typeface="Segoe UI"/>
              </a:rPr>
              <a:t>Tickets &amp; Notifications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47304" y="2011680"/>
            <a:ext cx="3657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250" b="1">
                <a:solidFill>
                  <a:srgbClr val="1A1A1A"/>
                </a:solidFill>
                <a:latin typeface="Segoe UI"/>
              </a:rPr>
              <a:t>▸ Internal support ticket system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250" b="1">
                <a:solidFill>
                  <a:srgbClr val="1A1A1A"/>
                </a:solidFill>
                <a:latin typeface="Segoe UI"/>
              </a:rPr>
              <a:t>▸ In-app notification feed — admin &amp; employee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250" b="1">
                <a:solidFill>
                  <a:srgbClr val="1A1A1A"/>
                </a:solidFill>
                <a:latin typeface="Segoe UI"/>
              </a:rPr>
              <a:t>▸ Announcements module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94415" y="64739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6070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63240"/>
            <a:ext cx="12191695" cy="38100"/>
          </a:xfrm>
          <a:prstGeom prst="rect">
            <a:avLst/>
          </a:prstGeom>
          <a:solidFill>
            <a:srgbClr val="E8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A0DA"/>
                </a:solidFill>
                <a:latin typeface="Segoe UI"/>
              </a:rPr>
              <a:t>SECTION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2004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Segoe UI"/>
              </a:rPr>
              <a:t>Native Multi-Layer Security Firewall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9D8EE"/>
                </a:solidFill>
                <a:latin typeface="Segoe UI"/>
              </a:rPr>
              <a:t>Six defense layers — fully self-contained, no paid or 3rd-party cloud services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A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128016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A0DA"/>
                </a:solidFill>
                <a:latin typeface="Segoe UI"/>
              </a:rPr>
              <a:t>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B1F3A"/>
                </a:solidFill>
                <a:latin typeface="Segoe UI"/>
              </a:rPr>
              <a:t>Six-Layer Security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005840" cy="38100"/>
          </a:xfrm>
          <a:prstGeom prst="rect">
            <a:avLst/>
          </a:prstGeom>
          <a:solidFill>
            <a:srgbClr val="E8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070"/>
                </a:solidFill>
                <a:latin typeface="Segoe UI"/>
              </a:rPr>
              <a:t>HRMS / Employee Attendance Portal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201400" cy="77724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645920"/>
            <a:ext cx="73152" cy="777240"/>
          </a:xfrm>
          <a:prstGeom prst="rect">
            <a:avLst/>
          </a:prstGeom>
          <a:solidFill>
            <a:srgbClr val="2EA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19072"/>
            <a:ext cx="3383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0B1F3A"/>
                </a:solidFill>
                <a:latin typeface="Segoe UI"/>
              </a:rPr>
              <a:t>1. WAF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1719072"/>
            <a:ext cx="7223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1A1A1A"/>
                </a:solidFill>
                <a:latin typeface="Segoe UI"/>
              </a:rPr>
              <a:t>Native regex-based SQLi / XSS / path-traversal signature detection on every request — utils/waf.py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423160"/>
            <a:ext cx="1120140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423160"/>
            <a:ext cx="73152" cy="777240"/>
          </a:xfrm>
          <a:prstGeom prst="rect">
            <a:avLst/>
          </a:prstGeom>
          <a:solidFill>
            <a:srgbClr val="2EA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496312"/>
            <a:ext cx="3383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0B1F3A"/>
                </a:solidFill>
                <a:latin typeface="Segoe UI"/>
              </a:rPr>
              <a:t>2. Rate Limiting &amp; Anti-Brute-Force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2496312"/>
            <a:ext cx="7223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1A1A1A"/>
                </a:solidFill>
                <a:latin typeface="Segoe UI"/>
              </a:rPr>
              <a:t>Flask-Limiter + progressive auto-ban: 5 breaches/10min → 15-min IP ban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200400"/>
            <a:ext cx="11201400" cy="77724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200400"/>
            <a:ext cx="73152" cy="777240"/>
          </a:xfrm>
          <a:prstGeom prst="rect">
            <a:avLst/>
          </a:prstGeom>
          <a:solidFill>
            <a:srgbClr val="2EA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273552"/>
            <a:ext cx="3383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0B1F3A"/>
                </a:solidFill>
                <a:latin typeface="Segoe UI"/>
              </a:rPr>
              <a:t>3. RBAC &amp; Clearance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3273552"/>
            <a:ext cx="7223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1A1A1A"/>
                </a:solidFill>
                <a:latin typeface="Segoe UI"/>
              </a:rPr>
              <a:t>admin / manager / soc_analyst roles, route guards, IDOR/BOLA ownership checks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977640"/>
            <a:ext cx="1120140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3977640"/>
            <a:ext cx="73152" cy="777240"/>
          </a:xfrm>
          <a:prstGeom prst="rect">
            <a:avLst/>
          </a:prstGeom>
          <a:solidFill>
            <a:srgbClr val="2EA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050792"/>
            <a:ext cx="3383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0B1F3A"/>
                </a:solidFill>
                <a:latin typeface="Segoe UI"/>
              </a:rPr>
              <a:t>4. DLP &amp; PII Masking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4050792"/>
            <a:ext cx="7223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1A1A1A"/>
                </a:solidFill>
                <a:latin typeface="Segoe UI"/>
              </a:rPr>
              <a:t>Field-level masking of Aadhar/PAN/bank/salary unless finance-tier clearance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754880"/>
            <a:ext cx="11201400" cy="77724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4754880"/>
            <a:ext cx="73152" cy="777240"/>
          </a:xfrm>
          <a:prstGeom prst="rect">
            <a:avLst/>
          </a:prstGeom>
          <a:solidFill>
            <a:srgbClr val="2EA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828032"/>
            <a:ext cx="3383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0B1F3A"/>
                </a:solidFill>
                <a:latin typeface="Segoe UI"/>
              </a:rPr>
              <a:t>5. HTTP Security &amp; Session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4828032"/>
            <a:ext cx="7223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1A1A1A"/>
                </a:solidFill>
                <a:latin typeface="Segoe UI"/>
              </a:rPr>
              <a:t>Dynamic CSP (sha256 nonces), HSTS, secure cookies, CSRF, session timeout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5532120"/>
            <a:ext cx="1120140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2920" y="5532120"/>
            <a:ext cx="73152" cy="777240"/>
          </a:xfrm>
          <a:prstGeom prst="rect">
            <a:avLst/>
          </a:prstGeom>
          <a:solidFill>
            <a:srgbClr val="2EA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605272"/>
            <a:ext cx="3383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0B1F3A"/>
                </a:solidFill>
                <a:latin typeface="Segoe UI"/>
              </a:rPr>
              <a:t>6. Centralized Audit / SOC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5605272"/>
            <a:ext cx="7223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1A1A1A"/>
                </a:solidFill>
                <a:latin typeface="Segoe UI"/>
              </a:rPr>
              <a:t>Structured JSON logging → security_events table → SOC dashboard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94415" y="64739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6070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A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128016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A0DA"/>
                </a:solidFill>
                <a:latin typeface="Segoe UI"/>
              </a:rPr>
              <a:t>SECURITY DEEP-DIVE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B1F3A"/>
                </a:solidFill>
                <a:latin typeface="Segoe UI"/>
              </a:rPr>
              <a:t>WAF &amp; Anti-Brute-Force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005840" cy="38100"/>
          </a:xfrm>
          <a:prstGeom prst="rect">
            <a:avLst/>
          </a:prstGeom>
          <a:solidFill>
            <a:srgbClr val="E8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070"/>
                </a:solidFill>
                <a:latin typeface="Segoe UI"/>
              </a:rPr>
              <a:t>HRMS / Employee Attendance Portal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56A0"/>
                </a:solidFill>
                <a:latin typeface="Segoe UI"/>
              </a:rPr>
              <a:t>Web Application Firewall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5303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350" b="1">
                <a:solidFill>
                  <a:srgbClr val="1A1A1A"/>
                </a:solidFill>
                <a:latin typeface="Segoe UI"/>
              </a:rPr>
              <a:t>▸ Signature-based detection: SQLi, XSS, path traversal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350" b="1">
                <a:solidFill>
                  <a:srgbClr val="1A1A1A"/>
                </a:solidFill>
                <a:latin typeface="Segoe UI"/>
              </a:rPr>
              <a:t>▸ Inspects query args, form fields, JSON body, filenames, path segments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350" b="1">
                <a:solidFill>
                  <a:srgbClr val="1A1A1A"/>
                </a:solidFill>
                <a:latin typeface="Segoe UI"/>
              </a:rPr>
              <a:t>▸ Runs as a before_request hook — blocks before any route executes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350" b="1">
                <a:solidFill>
                  <a:srgbClr val="1A1A1A"/>
                </a:solidFill>
                <a:latin typeface="Segoe UI"/>
              </a:rPr>
              <a:t>▸ 403 response + structured security-event log on match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350" b="1">
                <a:solidFill>
                  <a:srgbClr val="1A1A1A"/>
                </a:solidFill>
                <a:latin typeface="Segoe UI"/>
              </a:rPr>
              <a:t>▸ Exempts login endpoints (parameterized queries already make them safe — preserves anti-oracle response behavior)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5544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56A0"/>
                </a:solidFill>
                <a:latin typeface="Segoe UI"/>
              </a:rPr>
              <a:t>Rate Limiting &amp; Anti-Brute-Force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011680"/>
            <a:ext cx="5303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350" b="1">
                <a:solidFill>
                  <a:srgbClr val="1A1A1A"/>
                </a:solidFill>
                <a:latin typeface="Segoe UI"/>
              </a:rPr>
              <a:t>▸ Flask-Limiter on every sensitive route (login, exports, bulk APIs)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350" b="1">
                <a:solidFill>
                  <a:srgbClr val="1A1A1A"/>
                </a:solidFill>
                <a:latin typeface="Segoe UI"/>
              </a:rPr>
              <a:t>▸ DB-backed account lockout after repeated failed logins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350" b="1">
                <a:solidFill>
                  <a:srgbClr val="1A1A1A"/>
                </a:solidFill>
                <a:latin typeface="Segoe UI"/>
              </a:rPr>
              <a:t>▸ Progressive auto-ban: repeated breaches → temporary IP ban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350" b="1">
                <a:solidFill>
                  <a:srgbClr val="1A1A1A"/>
                </a:solidFill>
                <a:latin typeface="Segoe UI"/>
              </a:rPr>
              <a:t>▸ banned_ips table enforced on every request via before_request hook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350" b="1">
                <a:solidFill>
                  <a:srgbClr val="1A1A1A"/>
                </a:solidFill>
                <a:latin typeface="Segoe UI"/>
              </a:rPr>
              <a:t>▸ Optional Redis backend shares counters across gunicorn workers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739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6070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A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128016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A0DA"/>
                </a:solidFill>
                <a:latin typeface="Segoe UI"/>
              </a:rPr>
              <a:t>SECURITY DEEP-DIVE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B1F3A"/>
                </a:solidFill>
                <a:latin typeface="Segoe UI"/>
              </a:rPr>
              <a:t>RBAC, IDOR &amp; Data Loss Prevention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005840" cy="38100"/>
          </a:xfrm>
          <a:prstGeom prst="rect">
            <a:avLst/>
          </a:prstGeom>
          <a:solidFill>
            <a:srgbClr val="E8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070"/>
                </a:solidFill>
                <a:latin typeface="Segoe UI"/>
              </a:rPr>
              <a:t>HRMS / Employee Attendance Portal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56A0"/>
                </a:solidFill>
                <a:latin typeface="Segoe UI"/>
              </a:rPr>
              <a:t>RBAC &amp; Ownership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5303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350" b="1">
                <a:solidFill>
                  <a:srgbClr val="1A1A1A"/>
                </a:solidFill>
                <a:latin typeface="Segoe UI"/>
              </a:rPr>
              <a:t>▸ Role model: admin / manager / soc_analyst (admin-tier) + employee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350" b="1">
                <a:solidFill>
                  <a:srgbClr val="1A1A1A"/>
                </a:solidFill>
                <a:latin typeface="Segoe UI"/>
              </a:rPr>
              <a:t>▸ Route-level guards: role_required(), api_role_required()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350" b="1">
                <a:solidFill>
                  <a:srgbClr val="1A1A1A"/>
                </a:solidFill>
                <a:latin typeface="Segoe UI"/>
              </a:rPr>
              <a:t>▸ enforce_ownership() blocks horizontal privilege escalation (IDOR/BOLA)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350" b="1">
                <a:solidFill>
                  <a:srgbClr val="1A1A1A"/>
                </a:solidFill>
                <a:latin typeface="Segoe UI"/>
              </a:rPr>
              <a:t>▸ Applied to payslip view, document download, and bulk /api/* endpoints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5544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56A0"/>
                </a:solidFill>
                <a:latin typeface="Segoe UI"/>
              </a:rPr>
              <a:t>DLP &amp; PII Masking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011680"/>
            <a:ext cx="5303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350" b="1">
                <a:solidFill>
                  <a:srgbClr val="1A1A1A"/>
                </a:solidFill>
                <a:latin typeface="Segoe UI"/>
              </a:rPr>
              <a:t>▸ Aadhar / PAN / bank account / UAN masked to last 4 chars for non-finance roles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350" b="1">
                <a:solidFill>
                  <a:srgbClr val="1A1A1A"/>
                </a:solidFill>
                <a:latin typeface="Segoe UI"/>
              </a:rPr>
              <a:t>▸ Salary fields hidden entirely without clearance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350" b="1">
                <a:solidFill>
                  <a:srgbClr val="1A1A1A"/>
                </a:solidFill>
                <a:latin typeface="Segoe UI"/>
              </a:rPr>
              <a:t>▸ Fernet symmetric encryption for PII at rest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350" b="1">
                <a:solidFill>
                  <a:srgbClr val="1A1A1A"/>
                </a:solidFill>
                <a:latin typeface="Segoe UI"/>
              </a:rPr>
              <a:t>▸ Every unmasked reveal is logged as a data.reveal security event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739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6070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A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128016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A0DA"/>
                </a:solidFill>
                <a:latin typeface="Segoe UI"/>
              </a:rPr>
              <a:t>SECURITY DEEP-DIVE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B1F3A"/>
                </a:solidFill>
                <a:latin typeface="Segoe UI"/>
              </a:rPr>
              <a:t>HTTP/Session Protection &amp; SOC Logging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005840" cy="38100"/>
          </a:xfrm>
          <a:prstGeom prst="rect">
            <a:avLst/>
          </a:prstGeom>
          <a:solidFill>
            <a:srgbClr val="E8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070"/>
                </a:solidFill>
                <a:latin typeface="Segoe UI"/>
              </a:rPr>
              <a:t>HRMS / Employee Attendance Portal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56A0"/>
                </a:solidFill>
                <a:latin typeface="Segoe UI"/>
              </a:rPr>
              <a:t>HTTP Security &amp; Sessions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5303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100"/>
              </a:spcAft>
            </a:pPr>
            <a:r>
              <a:rPr sz="1300" b="1">
                <a:solidFill>
                  <a:srgbClr val="1A1A1A"/>
                </a:solidFill>
                <a:latin typeface="Segoe UI"/>
              </a:rPr>
              <a:t>▸ Dynamic CSP with per-request sha256 nonces — no unsafe-inline</a:t>
            </a:r>
          </a:p>
          <a:p>
            <a:pPr>
              <a:lnSpc>
                <a:spcPct val="110000"/>
              </a:lnSpc>
              <a:spcAft>
                <a:spcPts val="1100"/>
              </a:spcAft>
            </a:pPr>
            <a:r>
              <a:rPr sz="1300" b="1">
                <a:solidFill>
                  <a:srgbClr val="1A1A1A"/>
                </a:solidFill>
                <a:latin typeface="Segoe UI"/>
              </a:rPr>
              <a:t>▸ HSTS (2yr + preload), X-Frame-Options DENY, nosniff, Referrer-Policy</a:t>
            </a:r>
          </a:p>
          <a:p>
            <a:pPr>
              <a:lnSpc>
                <a:spcPct val="110000"/>
              </a:lnSpc>
              <a:spcAft>
                <a:spcPts val="1100"/>
              </a:spcAft>
            </a:pPr>
            <a:r>
              <a:rPr sz="1300" b="1">
                <a:solidFill>
                  <a:srgbClr val="1A1A1A"/>
                </a:solidFill>
                <a:latin typeface="Segoe UI"/>
              </a:rPr>
              <a:t>▸ Cookies: HttpOnly, Secure, SameSite=Strict</a:t>
            </a:r>
          </a:p>
          <a:p>
            <a:pPr>
              <a:lnSpc>
                <a:spcPct val="110000"/>
              </a:lnSpc>
              <a:spcAft>
                <a:spcPts val="1100"/>
              </a:spcAft>
            </a:pPr>
            <a:r>
              <a:rPr sz="1300" b="1">
                <a:solidFill>
                  <a:srgbClr val="1A1A1A"/>
                </a:solidFill>
                <a:latin typeface="Segoe UI"/>
              </a:rPr>
              <a:t>▸ CSRF token auto-injected &amp; verified per request</a:t>
            </a:r>
          </a:p>
          <a:p>
            <a:pPr>
              <a:lnSpc>
                <a:spcPct val="110000"/>
              </a:lnSpc>
              <a:spcAft>
                <a:spcPts val="1100"/>
              </a:spcAft>
            </a:pPr>
            <a:r>
              <a:rPr sz="1300" b="1">
                <a:solidFill>
                  <a:srgbClr val="1A1A1A"/>
                </a:solidFill>
                <a:latin typeface="Segoe UI"/>
              </a:rPr>
              <a:t>▸ Idle timeout + 8-hour absolute session lifetime</a:t>
            </a:r>
          </a:p>
          <a:p>
            <a:pPr>
              <a:lnSpc>
                <a:spcPct val="110000"/>
              </a:lnSpc>
              <a:spcAft>
                <a:spcPts val="1100"/>
              </a:spcAft>
            </a:pPr>
            <a:r>
              <a:rPr sz="1300" b="1">
                <a:solidFill>
                  <a:srgbClr val="1A1A1A"/>
                </a:solidFill>
                <a:latin typeface="Segoe UI"/>
              </a:rPr>
              <a:t>▸ Mandatory MFA (TOTP) enrollment gate for admin-tier roles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5544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56A0"/>
                </a:solidFill>
                <a:latin typeface="Segoe UI"/>
              </a:rPr>
              <a:t>Centralized Audit / SOC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011680"/>
            <a:ext cx="5303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100"/>
              </a:spcAft>
            </a:pPr>
            <a:r>
              <a:rPr sz="1300" b="1">
                <a:solidFill>
                  <a:srgbClr val="1A1A1A"/>
                </a:solidFill>
                <a:latin typeface="Segoe UI"/>
              </a:rPr>
              <a:t>▸ log_security_event() — structured JSON logging for every security-relevant action</a:t>
            </a:r>
          </a:p>
          <a:p>
            <a:pPr>
              <a:lnSpc>
                <a:spcPct val="110000"/>
              </a:lnSpc>
              <a:spcAft>
                <a:spcPts val="1100"/>
              </a:spcAft>
            </a:pPr>
            <a:r>
              <a:rPr sz="1300" b="1">
                <a:solidFill>
                  <a:srgbClr val="1A1A1A"/>
                </a:solidFill>
                <a:latin typeface="Segoe UI"/>
              </a:rPr>
              <a:t>▸ Persisted to a queryable security_events table</a:t>
            </a:r>
          </a:p>
          <a:p>
            <a:pPr>
              <a:lnSpc>
                <a:spcPct val="110000"/>
              </a:lnSpc>
              <a:spcAft>
                <a:spcPts val="1100"/>
              </a:spcAft>
            </a:pPr>
            <a:r>
              <a:rPr sz="1300" b="1">
                <a:solidFill>
                  <a:srgbClr val="1A1A1A"/>
                </a:solidFill>
                <a:latin typeface="Segoe UI"/>
              </a:rPr>
              <a:t>▸ Real-time webhook alerts on ERROR-level events</a:t>
            </a:r>
          </a:p>
          <a:p>
            <a:pPr>
              <a:lnSpc>
                <a:spcPct val="110000"/>
              </a:lnSpc>
              <a:spcAft>
                <a:spcPts val="1100"/>
              </a:spcAft>
            </a:pPr>
            <a:r>
              <a:rPr sz="1300" b="1">
                <a:solidFill>
                  <a:srgbClr val="1A1A1A"/>
                </a:solidFill>
                <a:latin typeface="Segoe UI"/>
              </a:rPr>
              <a:t>▸ Dedicated SOC dashboard for admin_views.py</a:t>
            </a:r>
          </a:p>
          <a:p>
            <a:pPr>
              <a:lnSpc>
                <a:spcPct val="110000"/>
              </a:lnSpc>
              <a:spcAft>
                <a:spcPts val="1100"/>
              </a:spcAft>
            </a:pPr>
            <a:r>
              <a:rPr sz="1300" b="1">
                <a:solidFill>
                  <a:srgbClr val="1A1A1A"/>
                </a:solidFill>
                <a:latin typeface="Segoe UI"/>
              </a:rPr>
              <a:t>▸ IP ban/unban management UI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739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6070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A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128016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A0DA"/>
                </a:solidFill>
                <a:latin typeface="Segoe UI"/>
              </a:rPr>
              <a:t>SECURITY DEEP-DIVE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B1F3A"/>
                </a:solidFill>
                <a:latin typeface="Segoe UI"/>
              </a:rPr>
              <a:t>File Upload Safety &amp; Biometric Integrity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005840" cy="38100"/>
          </a:xfrm>
          <a:prstGeom prst="rect">
            <a:avLst/>
          </a:prstGeom>
          <a:solidFill>
            <a:srgbClr val="E8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070"/>
                </a:solidFill>
                <a:latin typeface="Segoe UI"/>
              </a:rPr>
              <a:t>HRMS / Employee Attendance Portal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5448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E56A0"/>
                </a:solidFill>
                <a:latin typeface="Segoe UI"/>
              </a:rPr>
              <a:t>File Upload Firewall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86000"/>
            <a:ext cx="3657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200" b="1">
                <a:solidFill>
                  <a:srgbClr val="1A1A1A"/>
                </a:solidFill>
                <a:latin typeface="Segoe UI"/>
              </a:rPr>
              <a:t>▸ Extension allowlist + MIME/magic-byte verification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200" b="1">
                <a:solidFill>
                  <a:srgbClr val="1A1A1A"/>
                </a:solidFill>
                <a:latin typeface="Segoe UI"/>
              </a:rPr>
              <a:t>▸ File size caps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200" b="1">
                <a:solidFill>
                  <a:srgbClr val="1A1A1A"/>
                </a:solidFill>
                <a:latin typeface="Segoe UI"/>
              </a:rPr>
              <a:t>▸ ClamAV malware scanning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200" b="1">
                <a:solidFill>
                  <a:srgbClr val="1A1A1A"/>
                </a:solidFill>
                <a:latin typeface="Segoe UI"/>
              </a:rPr>
              <a:t>▸ UUID-prefixed secure_filename storage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5112" y="155448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E56A0"/>
                </a:solidFill>
                <a:latin typeface="Segoe UI"/>
              </a:rPr>
              <a:t>WebAuthn Integrity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5112" y="2286000"/>
            <a:ext cx="3657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200" b="1">
                <a:solidFill>
                  <a:srgbClr val="1A1A1A"/>
                </a:solidFill>
                <a:latin typeface="Segoe UI"/>
              </a:rPr>
              <a:t>▸ Real cryptographic signature verification (not just presence check)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200" b="1">
                <a:solidFill>
                  <a:srgbClr val="1A1A1A"/>
                </a:solidFill>
                <a:latin typeface="Segoe UI"/>
              </a:rPr>
              <a:t>▸ Enrollment requires admin session, self-service, or a real face match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200" b="1">
                <a:solidFill>
                  <a:srgbClr val="1A1A1A"/>
                </a:solidFill>
                <a:latin typeface="Segoe UI"/>
              </a:rPr>
              <a:t>▸ Prevents anyone enrolling a device against an arbitrary employee_id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47304" y="155448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E56A0"/>
                </a:solidFill>
                <a:latin typeface="Segoe UI"/>
              </a:rPr>
              <a:t>Mobile Biometric Binding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47304" y="2286000"/>
            <a:ext cx="3657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200" b="1">
                <a:solidFill>
                  <a:srgbClr val="1A1A1A"/>
                </a:solidFill>
                <a:latin typeface="Segoe UI"/>
              </a:rPr>
              <a:t>▸ Single-use, server-issued nonce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200" b="1">
                <a:solidFill>
                  <a:srgbClr val="1A1A1A"/>
                </a:solidFill>
                <a:latin typeface="Segoe UI"/>
              </a:rPr>
              <a:t>▸ Bound to a valid employee Bearer token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200" b="1">
                <a:solidFill>
                  <a:srgbClr val="1A1A1A"/>
                </a:solidFill>
                <a:latin typeface="Segoe UI"/>
              </a:rPr>
              <a:t>▸ 60-second nonce TTL, 120-second verify window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94415" y="64739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6070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A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128016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A0DA"/>
                </a:solidFill>
                <a:latin typeface="Segoe UI"/>
              </a:rPr>
              <a:t>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B1F3A"/>
                </a:solidFill>
                <a:latin typeface="Segoe UI"/>
              </a:rPr>
              <a:t>Caching Layer (Redis)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005840" cy="38100"/>
          </a:xfrm>
          <a:prstGeom prst="rect">
            <a:avLst/>
          </a:prstGeom>
          <a:solidFill>
            <a:srgbClr val="E8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070"/>
                </a:solidFill>
                <a:latin typeface="Segoe UI"/>
              </a:rPr>
              <a:t>HRMS / Employee Attendance Portal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A1A1A"/>
                </a:solidFill>
                <a:latin typeface="Segoe UI"/>
              </a:rPr>
              <a:t>An optional, opt-in Redis backend shares state across multiple gunicorn workers — the app runs correctly without it (safe in-process fallback), and gains cross-worker consistency when it's enabled.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60320"/>
            <a:ext cx="10789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00" b="1">
                <a:solidFill>
                  <a:srgbClr val="1A1A1A"/>
                </a:solidFill>
                <a:latin typeface="Segoe UI"/>
              </a:rPr>
              <a:t>▸ Flask-Limiter storage backend — shared rate-limit counters across workers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00" b="1">
                <a:solidFill>
                  <a:srgbClr val="1A1A1A"/>
                </a:solidFill>
                <a:latin typeface="Segoe UI"/>
              </a:rPr>
              <a:t>▸ WAF auto-ban breach counter — shared across workers instead of per-worker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00" b="1">
                <a:solidFill>
                  <a:srgbClr val="1A1A1A"/>
                </a:solidFill>
                <a:latin typeface="Segoe UI"/>
              </a:rPr>
              <a:t>▸ Graceful degradation: any Redis connectivity failure fails open to in-memory, never crashes the app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00" b="1">
                <a:solidFill>
                  <a:srgbClr val="1A1A1A"/>
                </a:solidFill>
                <a:latin typeface="Segoe UI"/>
              </a:rPr>
              <a:t>▸ Zero effect on the test suite — REDIS_HOST is never set under pytest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00" b="1">
                <a:solidFill>
                  <a:srgbClr val="1A1A1A"/>
                </a:solidFill>
                <a:latin typeface="Segoe UI"/>
              </a:rPr>
              <a:t>▸ No persistent volume — pure cache, not a system of record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739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6070"/>
                </a:solidFill>
                <a:latin typeface="Segoe U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A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128016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A0DA"/>
                </a:solidFill>
                <a:latin typeface="Segoe UI"/>
              </a:rPr>
              <a:t>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B1F3A"/>
                </a:solidFill>
                <a:latin typeface="Segoe UI"/>
              </a:rPr>
              <a:t>DevOps &amp; Infrastructure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005840" cy="38100"/>
          </a:xfrm>
          <a:prstGeom prst="rect">
            <a:avLst/>
          </a:prstGeom>
          <a:solidFill>
            <a:srgbClr val="E8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070"/>
                </a:solidFill>
                <a:latin typeface="Segoe UI"/>
              </a:rPr>
              <a:t>HRMS / Employee Attendance Portal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54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56A0"/>
                </a:solidFill>
                <a:latin typeface="Segoe UI"/>
              </a:rPr>
              <a:t>Local / Podman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57400"/>
            <a:ext cx="3657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200" b="1">
                <a:solidFill>
                  <a:srgbClr val="1A1A1A"/>
                </a:solidFill>
                <a:latin typeface="Segoe UI"/>
              </a:rPr>
              <a:t>▸ podman-compose up — full stack: app + PostgreSQL + Redis + nginx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200" b="1">
                <a:solidFill>
                  <a:srgbClr val="1A1A1A"/>
                </a:solidFill>
                <a:latin typeface="Segoe UI"/>
              </a:rPr>
              <a:t>▸ Hardened containers: read-only rootfs, cap_drop ALL, no-new-privileges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200" b="1">
                <a:solidFill>
                  <a:srgbClr val="1A1A1A"/>
                </a:solidFill>
                <a:latin typeface="Segoe UI"/>
              </a:rPr>
              <a:t>▸ pids/memory/CPU limits, capped k8s-file logging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200" b="1">
                <a:solidFill>
                  <a:srgbClr val="1A1A1A"/>
                </a:solidFill>
                <a:latin typeface="Segoe UI"/>
              </a:rPr>
              <a:t>▸ Auto-update labels on pulled images (daily systemd timer)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5112" y="1554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56A0"/>
                </a:solidFill>
                <a:latin typeface="Segoe UI"/>
              </a:rPr>
              <a:t>Production (AWS)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5112" y="2057400"/>
            <a:ext cx="3657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200" b="1">
                <a:solidFill>
                  <a:srgbClr val="1A1A1A"/>
                </a:solidFill>
                <a:latin typeface="Segoe UI"/>
              </a:rPr>
              <a:t>▸ EC2 + RDS + Terraform (AWS_DEPLOYMENT.md)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200" b="1">
                <a:solidFill>
                  <a:srgbClr val="1A1A1A"/>
                </a:solidFill>
                <a:latin typeface="Segoe UI"/>
              </a:rPr>
              <a:t>▸ nginx reverse proxy + Let's Encrypt TLS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200" b="1">
                <a:solidFill>
                  <a:srgbClr val="1A1A1A"/>
                </a:solidFill>
                <a:latin typeface="Segoe UI"/>
              </a:rPr>
              <a:t>▸ Security Groups (stateful) + Network ACL (stateless)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200" b="1">
                <a:solidFill>
                  <a:srgbClr val="1A1A1A"/>
                </a:solidFill>
                <a:latin typeface="Segoe UI"/>
              </a:rPr>
              <a:t>▸ WAFv2 + CloudFront + Network Firewall (provisioned, gated behind cutover)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47304" y="1554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56A0"/>
                </a:solidFill>
                <a:latin typeface="Segoe UI"/>
              </a:rPr>
              <a:t>CI/CD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47304" y="2057400"/>
            <a:ext cx="3657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200" b="1">
                <a:solidFill>
                  <a:srgbClr val="1A1A1A"/>
                </a:solidFill>
                <a:latin typeface="Segoe UI"/>
              </a:rPr>
              <a:t>▸ GitHub Actions pipeline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200" b="1">
                <a:solidFill>
                  <a:srgbClr val="1A1A1A"/>
                </a:solidFill>
                <a:latin typeface="Segoe UI"/>
              </a:rPr>
              <a:t>▸ Tests run against a real PostgreSQL 16 container — not mocks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200" b="1">
                <a:solidFill>
                  <a:srgbClr val="1A1A1A"/>
                </a:solidFill>
                <a:latin typeface="Segoe UI"/>
              </a:rPr>
              <a:t>▸ 1,116 automated tests across the full test suite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200" b="1">
                <a:solidFill>
                  <a:srgbClr val="1A1A1A"/>
                </a:solidFill>
                <a:latin typeface="Segoe UI"/>
              </a:rPr>
              <a:t>▸ Enforced before merge to master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94415" y="64739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6070"/>
                </a:solidFill>
                <a:latin typeface="Segoe U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A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128016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A0DA"/>
                </a:solidFill>
                <a:latin typeface="Segoe UI"/>
              </a:rPr>
              <a:t>QUALITY ASSURANCE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B1F3A"/>
                </a:solidFill>
                <a:latin typeface="Segoe UI"/>
              </a:rPr>
              <a:t>Testing &amp; Reliability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005840" cy="38100"/>
          </a:xfrm>
          <a:prstGeom prst="rect">
            <a:avLst/>
          </a:prstGeom>
          <a:solidFill>
            <a:srgbClr val="E8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070"/>
                </a:solidFill>
                <a:latin typeface="Segoe UI"/>
              </a:rPr>
              <a:t>HRMS / Employee Attendance Portal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3566160" cy="15544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E8A82E"/>
                </a:solidFill>
                <a:latin typeface="Segoe UI"/>
              </a:rPr>
              <a:t>1,116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0604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Segoe UI"/>
              </a:rPr>
              <a:t>automated tests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691640"/>
            <a:ext cx="3566160" cy="15544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182880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E8A82E"/>
                </a:solidFill>
                <a:latin typeface="Segoe UI"/>
              </a:rPr>
              <a:t>40+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60604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Segoe UI"/>
              </a:rPr>
              <a:t>test modules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1691640"/>
            <a:ext cx="3566160" cy="15544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182880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E8A82E"/>
                </a:solidFill>
                <a:latin typeface="Segoe UI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260604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Segoe UI"/>
              </a:rPr>
              <a:t>mocked databases — real Postgres in CI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657600"/>
            <a:ext cx="10789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450" b="1">
                <a:solidFill>
                  <a:srgbClr val="1A1A1A"/>
                </a:solidFill>
                <a:latin typeface="Segoe UI"/>
              </a:rPr>
              <a:t>▸ Route-level integration tests per blueprint (attendance, employees, payroll, auth, admin_views…)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450" b="1">
                <a:solidFill>
                  <a:srgbClr val="1A1A1A"/>
                </a:solidFill>
                <a:latin typeface="Segoe UI"/>
              </a:rPr>
              <a:t>▸ Dedicated security test suites: WAF, rate limiting, DLP masking, IDOR/BOLA ownership, IP ban, honeypot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450" b="1">
                <a:solidFill>
                  <a:srgbClr val="1A1A1A"/>
                </a:solidFill>
                <a:latin typeface="Segoe UI"/>
              </a:rPr>
              <a:t>▸ MFA, WebAuthn enrollment authorization, session-risk, and Redis-cache tests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450" b="1">
                <a:solidFill>
                  <a:srgbClr val="1A1A1A"/>
                </a:solidFill>
                <a:latin typeface="Segoe UI"/>
              </a:rPr>
              <a:t>▸ Coverage-driven hardening: several blueprints improved from ~40-60% to 70-90%+ coverage this cycle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94415" y="64739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6070"/>
                </a:solidFill>
                <a:latin typeface="Segoe U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38100"/>
          </a:xfrm>
          <a:prstGeom prst="rect">
            <a:avLst/>
          </a:prstGeom>
          <a:solidFill>
            <a:srgbClr val="E8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651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A0DA"/>
                </a:solidFill>
                <a:latin typeface="Segoe UI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4290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A complete, self-hosted HRMS — built for control, security, and ownership.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4340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C9D8EE"/>
                </a:solidFill>
                <a:latin typeface="Segoe UI"/>
              </a:rPr>
              <a:t>10 core HR modules · biometric attendance · 6-layer native security firewall · mobile app · 1,116 passing tests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